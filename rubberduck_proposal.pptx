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G6ZqYtjuVeEQya9qDWW5K5QKu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686885" y="1121850"/>
            <a:ext cx="10515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4400"/>
              <a:buFont typeface="Cambria"/>
              <a:buNone/>
            </a:pPr>
            <a:r>
              <a:rPr b="1" i="0" lang="en-US" sz="53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RubberDuck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686885" y="212774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Detection of Subtle Logic Bugs with </a:t>
            </a:r>
            <a:r>
              <a:rPr lang="en-US" sz="20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developer intent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86885" y="2952617"/>
            <a:ext cx="10515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AI-Assisted Software Engineering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Nvafeomo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86865" y="3290570"/>
            <a:ext cx="11064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50"/>
              <a:buFont typeface="Calibri"/>
              <a:buNone/>
            </a:pPr>
            <a:r>
              <a:rPr i="1" lang="en-US" sz="145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1" lang="en-US" sz="14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orrows from rubber duck debugging: explaining code out loud to </a:t>
            </a:r>
            <a:r>
              <a:rPr i="1" lang="en-US" sz="145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catch</a:t>
            </a:r>
            <a:r>
              <a:rPr b="0" i="1" lang="en-US" sz="14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mistakes. RubberDuck automates that </a:t>
            </a:r>
            <a:r>
              <a:rPr i="1" lang="en-US" sz="145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and replaces </a:t>
            </a:r>
            <a:r>
              <a:rPr b="0" i="1" lang="en-US" sz="14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the silent object for an agent that can see the code and ask a real question back.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Already caught by IDEs &amp; static analyzers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548640" y="2011680"/>
            <a:ext cx="5212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Syntax errors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Type mismatches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Null dereferences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6309360" y="14630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Misse</a:t>
            </a:r>
            <a:r>
              <a:rPr b="1" lang="en-US" sz="1600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="1" i="0" lang="en-US" sz="16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 code that's valid but not what</a:t>
            </a:r>
            <a:r>
              <a:rPr b="1" lang="en-US" sz="1600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="1" i="0" lang="en-US" sz="16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 meant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6309360" y="2011680"/>
            <a:ext cx="5394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Using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the wrong dictionary key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Iterating over the wrong 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Performing an operation on the wrong variable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6035040" y="1508760"/>
            <a:ext cx="0" cy="2103120"/>
          </a:xfrm>
          <a:prstGeom prst="straightConnector1">
            <a:avLst/>
          </a:prstGeom>
          <a:noFill/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 txBox="1"/>
          <p:nvPr/>
        </p:nvSpPr>
        <p:spPr>
          <a:xfrm>
            <a:off x="548640" y="411480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Motivation &amp; Who Benefits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548640" y="219456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Why it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548640" y="2651760"/>
            <a:ext cx="51206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Easy to fix but hard to find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More costly 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and harder to pinpoint the further downstream it's caught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In large codebases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you may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long periods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tracing variable use for a one-line fix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6309360" y="21945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Who benefits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6309385" y="2485435"/>
            <a:ext cx="53034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Solo developers &amp; small teams - no dedicated reviewers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Anyone working across many files, where it's easy to miss things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Less 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useful to 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larger teams with QA-gated release processes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3"/>
          <p:cNvCxnSpPr/>
          <p:nvPr/>
        </p:nvCxnSpPr>
        <p:spPr>
          <a:xfrm>
            <a:off x="6035040" y="2240280"/>
            <a:ext cx="0" cy="2651760"/>
          </a:xfrm>
          <a:prstGeom prst="straightConnector1">
            <a:avLst/>
          </a:prstGeom>
          <a:noFill/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Course Perspective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AI4SE  --  primary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548640" y="2011680"/>
            <a:ext cx="5212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The LLM supports debugging and code review during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development -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but it 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doesn't replace the developer's review step. Sitting at the pre-commit hook, it checks code against what the developer actually meant to 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6309360" y="146304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SE4AI  --  secondary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6309360" y="2011680"/>
            <a:ext cx="53949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RubberDuck is itself a s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oftware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that has to be 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developed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tested. 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the part that gathers context, the part that creates test bugs, and the part that measures accuracy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So its also SE4AI.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4"/>
          <p:cNvCxnSpPr/>
          <p:nvPr/>
        </p:nvCxnSpPr>
        <p:spPr>
          <a:xfrm>
            <a:off x="6035040" y="1508760"/>
            <a:ext cx="0" cy="2834640"/>
          </a:xfrm>
          <a:prstGeom prst="straightConnector1">
            <a:avLst/>
          </a:prstGeom>
          <a:noFill/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Current Practice &amp; Existing Solutions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548640" y="150876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6F73"/>
                </a:solidFill>
                <a:latin typeface="Calibri"/>
                <a:ea typeface="Calibri"/>
                <a:cs typeface="Calibri"/>
                <a:sym typeface="Calibri"/>
              </a:rPr>
              <a:t>Static analyzers &amp; linters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4937760" y="1508760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Catch style/structural issues - no notion of developer intent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5"/>
          <p:cNvCxnSpPr/>
          <p:nvPr/>
        </p:nvCxnSpPr>
        <p:spPr>
          <a:xfrm>
            <a:off x="548640" y="2121408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5"/>
          <p:cNvSpPr txBox="1"/>
          <p:nvPr/>
        </p:nvSpPr>
        <p:spPr>
          <a:xfrm>
            <a:off x="548640" y="219456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6F73"/>
                </a:solidFill>
                <a:latin typeface="Calibri"/>
                <a:ea typeface="Calibri"/>
                <a:cs typeface="Calibri"/>
                <a:sym typeface="Calibri"/>
              </a:rPr>
              <a:t>DeepBugs (Pradel &amp; Sen, 2018)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4937760" y="2194560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Closest prior work - ML on artificial bugs, predates LLMs, no task input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5"/>
          <p:cNvCxnSpPr/>
          <p:nvPr/>
        </p:nvCxnSpPr>
        <p:spPr>
          <a:xfrm>
            <a:off x="548640" y="2807208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5"/>
          <p:cNvSpPr txBox="1"/>
          <p:nvPr/>
        </p:nvSpPr>
        <p:spPr>
          <a:xfrm>
            <a:off x="548640" y="288036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6F73"/>
                </a:solidFill>
                <a:latin typeface="Calibri"/>
                <a:ea typeface="Calibri"/>
                <a:cs typeface="Calibri"/>
                <a:sym typeface="Calibri"/>
              </a:rPr>
              <a:t>AI PR-review bots (Copilot review, CodeRabbit)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4937760" y="2880360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Run after the commit, on the full diff -- no memory of stated intent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5"/>
          <p:cNvCxnSpPr/>
          <p:nvPr/>
        </p:nvCxnSpPr>
        <p:spPr>
          <a:xfrm>
            <a:off x="548640" y="370332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Proposed Proof of Concept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99516" y="1737360"/>
            <a:ext cx="201168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790956" y="173736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135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git commit </a:t>
            </a:r>
            <a:endParaRPr sz="135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50"/>
              <a:buFont typeface="Calibri"/>
              <a:buNone/>
            </a:pPr>
            <a:r>
              <a:rPr lang="en-US" sz="135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(pre-commit hook)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2711196" y="1737360"/>
            <a:ext cx="182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2894076" y="1737360"/>
            <a:ext cx="201168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 txBox="1"/>
          <p:nvPr/>
        </p:nvSpPr>
        <p:spPr>
          <a:xfrm>
            <a:off x="2985516" y="173736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25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Diff</a:t>
            </a:r>
            <a:r>
              <a:rPr b="0" i="0" lang="en-US" sz="12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US" sz="12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Full staged file content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4905756" y="1737360"/>
            <a:ext cx="182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088636" y="1737360"/>
            <a:ext cx="201168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5180076" y="173736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3. Prompt for developer intent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7100316" y="1737360"/>
            <a:ext cx="182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7283196" y="1737360"/>
            <a:ext cx="201168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7374636" y="173736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4. Retrieve related code (</a:t>
            </a:r>
            <a:r>
              <a:rPr lang="en-US" sz="125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ast/jedi)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9294876" y="1737360"/>
            <a:ext cx="182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9477756" y="1737360"/>
            <a:ext cx="201168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9569196" y="1737360"/>
            <a:ext cx="1828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5. Single LLM review call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Output: a clean pass, or a small number of targeted</a:t>
            </a:r>
            <a:r>
              <a:rPr b="1" lang="en-US" sz="1600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16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questions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548640" y="402336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Never a </a:t>
            </a:r>
            <a:r>
              <a:rPr i="1" lang="en-US" sz="145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makes</a:t>
            </a:r>
            <a:r>
              <a:rPr b="0" i="1" lang="en-US" sz="14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assertion -</a:t>
            </a:r>
            <a:r>
              <a:rPr i="1" lang="en-US" sz="145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4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RubberDuck only has partial context, so it asks (“Line 42: did you mean X or Y?”) rather than declaring code wrong.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System Workflow &amp; Tech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1554480"/>
            <a:ext cx="539496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548640" y="1554480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git commit (pre-commit hook)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548640" y="2240280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48640" y="2441448"/>
            <a:ext cx="539496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548640" y="2441448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Prompt for intent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548640" y="3127248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48640" y="3328416"/>
            <a:ext cx="539496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548640" y="3328416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Retrieve context (ast / jedi)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548640" y="4014216"/>
            <a:ext cx="5394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48640" y="4215384"/>
            <a:ext cx="539496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548640" y="4215384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LLM review (diff + intent + context)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6492240" y="15544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Tech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6492240" y="21031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Trigger:  </a:t>
            </a: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pre-commit framework (Python)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6492240" y="26060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Context retrieval:  </a:t>
            </a: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ast module + jedi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6492240" y="31089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LLM / agent:  </a:t>
            </a: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Google Gemini API (Flash), single-shot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6492240" y="36118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Bug seeding:  </a:t>
            </a:r>
            <a:r>
              <a:rPr lang="en-US" sz="135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Claude generated bug seeding script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6492240" y="41148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Eval repository:  </a:t>
            </a: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TinyDB (github.com/msiemens/tinydb)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6492240" y="46177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Testing </a:t>
            </a:r>
            <a:r>
              <a:rPr b="1" lang="en-US" sz="135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b="1" i="0" lang="en-US" sz="13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1" i="0" lang="en-US" sz="135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Claude generated evaluation script</a:t>
            </a:r>
            <a:endParaRPr b="0" i="0" sz="135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Evaluation Question &amp;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408225" y="1417325"/>
            <a:ext cx="1143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700"/>
              <a:buFont typeface="Cambria"/>
              <a:buNone/>
            </a:pPr>
            <a:r>
              <a:rPr b="1" i="1" lang="en-US" sz="18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Does developer</a:t>
            </a:r>
            <a:r>
              <a:rPr b="1" i="1" lang="en-US" sz="1800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1" lang="en-US" sz="18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 intent + cross-file context improve bug-detection accuracy over the same agent without it?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548640" y="23317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Conditions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548640" y="3086092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Full system</a:t>
            </a: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(code + context + intent) </a:t>
            </a: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vs Code-only (Same LLM call, no intent or context)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8"/>
          <p:cNvCxnSpPr/>
          <p:nvPr/>
        </p:nvCxnSpPr>
        <p:spPr>
          <a:xfrm>
            <a:off x="548640" y="384048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8"/>
          <p:cNvSpPr txBox="1"/>
          <p:nvPr/>
        </p:nvSpPr>
        <p:spPr>
          <a:xfrm>
            <a:off x="548640" y="40690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6F73"/>
                </a:solidFill>
                <a:latin typeface="Calibri"/>
                <a:ea typeface="Calibri"/>
                <a:cs typeface="Calibri"/>
                <a:sym typeface="Calibri"/>
              </a:rPr>
              <a:t>Recall / Precision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3017520" y="40690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How many seeded bugs get caught, how many flags are correct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548640" y="4480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6F73"/>
                </a:solidFill>
                <a:latin typeface="Calibri"/>
                <a:ea typeface="Calibri"/>
                <a:cs typeface="Calibri"/>
                <a:sym typeface="Calibri"/>
              </a:rPr>
              <a:t>False-positive rate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3017520" y="448056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How often clean code gets flagged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548615" y="4892020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6F73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3017520" y="489202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LLM PR review tool,</a:t>
            </a: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linter or DeepBugs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Project Scope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548640" y="14630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Must Have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548550" y="1756124"/>
            <a:ext cx="5212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Pre-commit hook + intent prompt, diff + basic cross-file context for one repo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LLM call returning structured flags/questions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covering 2-3 bug classes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Measured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accuracy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with/without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intent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+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6309360" y="1463040"/>
            <a:ext cx="5394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6F73"/>
                </a:solidFill>
                <a:latin typeface="Cambria"/>
                <a:ea typeface="Cambria"/>
                <a:cs typeface="Cambria"/>
                <a:sym typeface="Cambria"/>
              </a:rPr>
              <a:t>Optional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6309350" y="1662852"/>
            <a:ext cx="53949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Additional bug classes</a:t>
            </a:r>
            <a:endParaRPr b="0" i="0" sz="1500" u="none" cap="none" strike="noStrike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52525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Compare with a 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r>
              <a:rPr lang="en-US" sz="1500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 like linter</a:t>
            </a:r>
            <a:endParaRPr sz="1500">
              <a:solidFill>
                <a:srgbClr val="25252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9"/>
          <p:cNvCxnSpPr/>
          <p:nvPr/>
        </p:nvCxnSpPr>
        <p:spPr>
          <a:xfrm>
            <a:off x="6035040" y="1508760"/>
            <a:ext cx="0" cy="3566160"/>
          </a:xfrm>
          <a:prstGeom prst="straightConnector1">
            <a:avLst/>
          </a:prstGeom>
          <a:noFill/>
          <a:ln cap="flat" cmpd="sng" w="12700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52525"/>
                </a:solidFill>
                <a:latin typeface="Cambria"/>
                <a:ea typeface="Cambria"/>
                <a:cs typeface="Cambria"/>
                <a:sym typeface="Cambria"/>
              </a:rPr>
              <a:t>References &amp; External Resources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548640" y="160020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6F73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1828800" y="1600200"/>
            <a:ext cx="9784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M. Pradel &amp; K. Sen, “DeepBugs: A Learning Approach to Name-based Bug Detection,” OOPSLA 2018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10"/>
          <p:cNvCxnSpPr/>
          <p:nvPr/>
        </p:nvCxnSpPr>
        <p:spPr>
          <a:xfrm>
            <a:off x="548640" y="219456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0"/>
          <p:cNvCxnSpPr/>
          <p:nvPr/>
        </p:nvCxnSpPr>
        <p:spPr>
          <a:xfrm>
            <a:off x="548640" y="297180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0"/>
          <p:cNvSpPr txBox="1"/>
          <p:nvPr/>
        </p:nvSpPr>
        <p:spPr>
          <a:xfrm>
            <a:off x="548640" y="2286005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6F73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1828800" y="2308855"/>
            <a:ext cx="978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Google Gemini API Documentation  •  ai.google.dev/gemini-api/docs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10"/>
          <p:cNvCxnSpPr/>
          <p:nvPr/>
        </p:nvCxnSpPr>
        <p:spPr>
          <a:xfrm>
            <a:off x="548640" y="3749040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CFCFC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10"/>
          <p:cNvSpPr txBox="1"/>
          <p:nvPr/>
        </p:nvSpPr>
        <p:spPr>
          <a:xfrm>
            <a:off x="548590" y="3086107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F7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6F73"/>
                </a:solidFill>
                <a:latin typeface="Calibri"/>
                <a:ea typeface="Calibri"/>
                <a:cs typeface="Calibri"/>
                <a:sym typeface="Calibri"/>
              </a:rPr>
              <a:t>Repo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1828863" y="3086107"/>
            <a:ext cx="978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TinyDB -- lightweight Python document database  •  github.com/msiemens/tinydb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2026-09-16T03:20:29Z</dcterms:created>
  <dc:creator>PptxGenJS</dc:creator>
</cp:coreProperties>
</file>